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Host Grotesk Medium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oboto" panose="020B0604020202020204" charset="0"/>
      <p:regular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Arial Black" panose="020B0A04020102020204" pitchFamily="34" charset="0"/>
      <p:bold r:id="rId23"/>
    </p:embeddedFont>
    <p:embeddedFont>
      <p:font typeface="Wingdings 3" panose="05040102010807070707" pitchFamily="18" charset="2"/>
      <p:regular r:id="rId24"/>
    </p:embeddedFont>
    <p:embeddedFont>
      <p:font typeface="Bahnschrift" panose="020B0502040204020203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12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258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4291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5973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551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4104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048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4440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6607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824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4748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81596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064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63193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779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7798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4152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0498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785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5088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176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2866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9782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3360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9401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3807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066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6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jpeg"/><Relationship Id="rId4" Type="http://schemas.openxmlformats.org/officeDocument/2006/relationships/hyperlink" Target="https://thelensindia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lensindia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.jpeg"/><Relationship Id="rId4" Type="http://schemas.openxmlformats.org/officeDocument/2006/relationships/hyperlink" Target="https://thelensindia.com/corporate-birding-retreats-in-indi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hyperlink" Target="https://thelensindia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.jpeg"/><Relationship Id="rId4" Type="http://schemas.openxmlformats.org/officeDocument/2006/relationships/hyperlink" Target="https://thelensindia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9.jpeg"/><Relationship Id="rId5" Type="http://schemas.openxmlformats.org/officeDocument/2006/relationships/hyperlink" Target="https://thelensindia.com/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0.png"/><Relationship Id="rId7" Type="http://schemas.openxmlformats.org/officeDocument/2006/relationships/hyperlink" Target="https://thelensindia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thelensindia.com/corporate-birding-retreats-in-india/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thelensindia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thelensindia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elensindia.com/corporate-birding-retreats-in-india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4.jpeg"/><Relationship Id="rId4" Type="http://schemas.openxmlformats.org/officeDocument/2006/relationships/hyperlink" Target="https://thelensindi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255" y="1148316"/>
            <a:ext cx="11940364" cy="1084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Corporate Birding Retreats in India</a:t>
            </a:r>
            <a:endParaRPr lang="en-US" sz="4400" b="1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63255" y="2232838"/>
            <a:ext cx="11673123" cy="121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i="1" u="sng" dirty="0">
                <a:solidFill>
                  <a:srgbClr val="3A6B7E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3"/>
              </a:rPr>
              <a:t>Corporate Birding Retreats in </a:t>
            </a:r>
            <a:r>
              <a:rPr lang="en-US" sz="2400" i="1" u="sng" dirty="0" smtClean="0">
                <a:solidFill>
                  <a:srgbClr val="3A6B7E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3"/>
              </a:rPr>
              <a:t>India</a:t>
            </a:r>
            <a:r>
              <a:rPr lang="en-US" sz="2400" i="1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2400" dirty="0" smtClean="0"/>
              <a:t> </a:t>
            </a:r>
            <a:r>
              <a:rPr lang="en-US" sz="2400" i="1" dirty="0" smtClean="0"/>
              <a:t>Team </a:t>
            </a:r>
            <a:r>
              <a:rPr lang="en-US" sz="2400" i="1" dirty="0"/>
              <a:t>Building in the Wild</a:t>
            </a:r>
            <a:endParaRPr lang="en-US" sz="2400" i="1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63255" y="3827722"/>
            <a:ext cx="5114262" cy="93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Nature-based corporate experiences</a:t>
            </a:r>
            <a:endParaRPr lang="en-US" sz="2000" dirty="0" smtClean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Presented By</a:t>
            </a:r>
            <a:r>
              <a:rPr lang="en-US" sz="2000" u="sng" dirty="0" smtClean="0">
                <a:solidFill>
                  <a:srgbClr val="3A6B7E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:- </a:t>
            </a:r>
            <a:r>
              <a:rPr lang="en-US" sz="2000" u="sng" dirty="0" smtClean="0">
                <a:solidFill>
                  <a:srgbClr val="3A6B7E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The Lens India</a:t>
            </a:r>
            <a:r>
              <a:rPr lang="en-US" sz="2000" u="sng" dirty="0" smtClean="0">
                <a:solidFill>
                  <a:srgbClr val="3A6B7E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21656" y="7697972"/>
            <a:ext cx="3508744" cy="531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116" y="2828261"/>
            <a:ext cx="6597503" cy="43983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6928"/>
            <a:ext cx="778180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What are </a:t>
            </a:r>
            <a:r>
              <a:rPr lang="en-US" sz="3600" b="1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  <a:hlinkClick r:id="rId3"/>
              </a:rPr>
              <a:t>Corporate Birding Retreats?</a:t>
            </a:r>
            <a:endParaRPr lang="en-US" sz="3600" b="1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1403" y="1930719"/>
            <a:ext cx="12790655" cy="58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Birding is a powerful team-building tool that enhances key leadership skills like focus, </a:t>
            </a:r>
            <a:endParaRPr lang="en-US" sz="2000" dirty="0" smtClean="0">
              <a:solidFill>
                <a:srgbClr val="384653"/>
              </a:solidFill>
              <a:latin typeface="Bahnschrift" panose="020B0502040204020203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650"/>
              </a:lnSpc>
              <a:buNone/>
            </a:pP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coordination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, and decision-making.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6170" y="2745225"/>
            <a:ext cx="3969544" cy="2169795"/>
          </a:xfrm>
          <a:prstGeom prst="roundRect">
            <a:avLst>
              <a:gd name="adj" fmla="val 39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285460"/>
            <a:ext cx="3727490" cy="12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Wildlife-based corporate retreats</a:t>
            </a:r>
            <a:r>
              <a:rPr lang="en-US" sz="24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–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Curated </a:t>
            </a: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by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The Lens India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16962" y="2752845"/>
            <a:ext cx="3961924" cy="2162176"/>
          </a:xfrm>
          <a:prstGeom prst="roundRect">
            <a:avLst>
              <a:gd name="adj" fmla="val 39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451396" y="3174326"/>
            <a:ext cx="3727490" cy="1740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Guided bird watching + team activities</a:t>
            </a:r>
            <a:r>
              <a:rPr lang="en-US" sz="24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– 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Expert-</a:t>
            </a:r>
            <a:r>
              <a:rPr lang="en-US" sz="24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l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ed</a:t>
            </a:r>
            <a:r>
              <a:rPr lang="en-US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experiences for team engagement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9640134" y="2752845"/>
            <a:ext cx="3961925" cy="2162176"/>
          </a:xfrm>
          <a:prstGeom prst="roundRect">
            <a:avLst>
              <a:gd name="adj" fmla="val 397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9757351" y="3254078"/>
            <a:ext cx="3727490" cy="12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Learning through real</a:t>
            </a:r>
            <a:r>
              <a:rPr lang="en-US" sz="24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-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world</a:t>
            </a:r>
            <a:r>
              <a:rPr lang="en-US" sz="24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experiences – Hands-on learning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1956391" y="5376266"/>
            <a:ext cx="3969544" cy="1726281"/>
          </a:xfrm>
          <a:prstGeom prst="roundRect">
            <a:avLst>
              <a:gd name="adj" fmla="val 555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9"/>
          <p:cNvSpPr/>
          <p:nvPr/>
        </p:nvSpPr>
        <p:spPr>
          <a:xfrm>
            <a:off x="1956391" y="5847908"/>
            <a:ext cx="3969544" cy="754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Strategic Positioning</a:t>
            </a:r>
            <a:r>
              <a:rPr lang="en-US" sz="24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400" dirty="0">
                <a:solidFill>
                  <a:srgbClr val="384653"/>
                </a:solidFill>
                <a:ea typeface="Roboto" pitchFamily="34" charset="-122"/>
                <a:cs typeface="Roboto" pitchFamily="34" charset="-120"/>
              </a:rPr>
              <a:t>– </a:t>
            </a:r>
            <a:endParaRPr lang="en-US" sz="2400" dirty="0" smtClean="0">
              <a:solidFill>
                <a:srgbClr val="384653"/>
              </a:solidFill>
              <a:ea typeface="Roboto" pitchFamily="34" charset="-122"/>
              <a:cs typeface="Roboto" pitchFamily="34" charset="-120"/>
            </a:endParaRPr>
          </a:p>
          <a:p>
            <a:pPr marL="0" indent="0" algn="ctr">
              <a:lnSpc>
                <a:spcPts val="2650"/>
              </a:lnSpc>
              <a:buNone/>
            </a:pP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Planning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&amp; positioning skills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7262040" y="5376267"/>
            <a:ext cx="4125430" cy="1726281"/>
          </a:xfrm>
          <a:prstGeom prst="roundRect">
            <a:avLst>
              <a:gd name="adj" fmla="val 555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2" name="Text 11"/>
          <p:cNvSpPr/>
          <p:nvPr/>
        </p:nvSpPr>
        <p:spPr>
          <a:xfrm>
            <a:off x="7421526" y="5847909"/>
            <a:ext cx="3965943" cy="82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Environmental Awareness </a:t>
            </a:r>
            <a:r>
              <a:rPr lang="en-US" sz="2400" dirty="0">
                <a:solidFill>
                  <a:srgbClr val="384653"/>
                </a:solidFill>
                <a:ea typeface="Roboto" pitchFamily="34" charset="-122"/>
                <a:cs typeface="Roboto" pitchFamily="34" charset="-120"/>
              </a:rPr>
              <a:t>– </a:t>
            </a:r>
            <a:endParaRPr lang="en-US" sz="2400" dirty="0" smtClean="0">
              <a:solidFill>
                <a:srgbClr val="384653"/>
              </a:solidFill>
              <a:ea typeface="Roboto" pitchFamily="34" charset="-122"/>
              <a:cs typeface="Roboto" pitchFamily="34" charset="-120"/>
            </a:endParaRPr>
          </a:p>
          <a:p>
            <a:pPr marL="0" indent="0" algn="ctr">
              <a:lnSpc>
                <a:spcPts val="2650"/>
              </a:lnSpc>
              <a:buNone/>
            </a:pP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Understanding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ecosystems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121656" y="7697972"/>
            <a:ext cx="3508744" cy="531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5508" y="983218"/>
            <a:ext cx="9338194" cy="51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IN" sz="3600" dirty="0" smtClean="0">
                <a:latin typeface="Arial Black" panose="020B0A04020102020204" pitchFamily="34" charset="0"/>
              </a:rPr>
              <a:t>Skills Developed Through Birding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01834" y="1587341"/>
            <a:ext cx="2637830" cy="32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101834" y="2121575"/>
            <a:ext cx="175855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834" y="2397562"/>
            <a:ext cx="7913132" cy="22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01834" y="2531150"/>
            <a:ext cx="7913132" cy="468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834" y="3525798"/>
            <a:ext cx="7913132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63341" y="2549069"/>
            <a:ext cx="4318073" cy="655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101834" y="4179213"/>
            <a:ext cx="182008" cy="15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834" y="4420076"/>
            <a:ext cx="7913132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01834" y="5325070"/>
            <a:ext cx="175855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834" y="5548313"/>
            <a:ext cx="7913132" cy="22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01834" y="6236851"/>
            <a:ext cx="175855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61" y="2753797"/>
            <a:ext cx="7913132" cy="228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01834" y="1917144"/>
            <a:ext cx="7571636" cy="519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Bahnschrift" panose="020B0502040204020203" pitchFamily="34" charset="0"/>
              </a:rPr>
              <a:t>Observation &amp; Attention to Detail </a:t>
            </a:r>
            <a:r>
              <a:rPr lang="en-US" sz="2400" dirty="0" smtClean="0"/>
              <a:t>– </a:t>
            </a:r>
            <a:r>
              <a:rPr lang="en-US" sz="2000" dirty="0" smtClean="0">
                <a:latin typeface="Bahnschrift" panose="020B0502040204020203" pitchFamily="34" charset="0"/>
              </a:rPr>
              <a:t>Enhanced through </a:t>
            </a:r>
            <a:r>
              <a:rPr lang="en-US" sz="2000" b="1" dirty="0" smtClean="0">
                <a:latin typeface="Bahnschrift" panose="020B0502040204020203" pitchFamily="34" charset="0"/>
                <a:hlinkClick r:id="rId4"/>
              </a:rPr>
              <a:t>corporate birding retreats in India </a:t>
            </a:r>
            <a:r>
              <a:rPr lang="en-US" sz="2000" b="1" dirty="0" smtClean="0">
                <a:latin typeface="Bahnschrift" panose="020B0502040204020203" pitchFamily="34" charset="0"/>
              </a:rPr>
              <a:t>by the lens India</a:t>
            </a:r>
            <a:r>
              <a:rPr lang="en-US" sz="2000" dirty="0" smtClean="0">
                <a:latin typeface="Bahnschrift" panose="020B0502040204020203" pitchFamily="34" charset="0"/>
              </a:rPr>
              <a:t>, improving the ability to notice small details </a:t>
            </a:r>
            <a:endParaRPr lang="en-US" sz="2400" dirty="0" smtClean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Bahnschrift" panose="020B0502040204020203" pitchFamily="34" charset="0"/>
              </a:rPr>
              <a:t>Patience &amp; Focus </a:t>
            </a:r>
            <a:r>
              <a:rPr lang="en-US" sz="2400" dirty="0" smtClean="0"/>
              <a:t>– </a:t>
            </a:r>
            <a:r>
              <a:rPr lang="en-US" sz="2000" dirty="0" smtClean="0">
                <a:latin typeface="Bahnschrift" panose="020B0502040204020203" pitchFamily="34" charset="0"/>
              </a:rPr>
              <a:t>Developed during guided birding sessions conducted by the lens </a:t>
            </a:r>
            <a:r>
              <a:rPr lang="en-US" sz="2000" dirty="0">
                <a:latin typeface="Bahnschrift" panose="020B0502040204020203" pitchFamily="34" charset="0"/>
              </a:rPr>
              <a:t>I</a:t>
            </a:r>
            <a:r>
              <a:rPr lang="en-US" sz="2000" dirty="0" smtClean="0">
                <a:latin typeface="Bahnschrift" panose="020B0502040204020203" pitchFamily="34" charset="0"/>
              </a:rPr>
              <a:t>ndia </a:t>
            </a:r>
            <a:endParaRPr lang="en-US" sz="2400" dirty="0" smtClean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Bahnschrift" panose="020B0502040204020203" pitchFamily="34" charset="0"/>
              </a:rPr>
              <a:t>Silent Coordination</a:t>
            </a:r>
            <a:r>
              <a:rPr lang="en-US" sz="2400" dirty="0" smtClean="0"/>
              <a:t> – </a:t>
            </a:r>
            <a:r>
              <a:rPr lang="en-US" sz="2000" dirty="0" smtClean="0">
                <a:latin typeface="Bahnschrift" panose="020B0502040204020203" pitchFamily="34" charset="0"/>
              </a:rPr>
              <a:t>Strengthened through team-based activities in corporate birding retreats in India </a:t>
            </a:r>
            <a:endParaRPr lang="en-US" sz="2400" dirty="0" smtClean="0">
              <a:latin typeface="Bahnschrift" panose="020B0502040204020203" pitchFamily="34" charset="0"/>
            </a:endParaRPr>
          </a:p>
          <a:p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Bahnschrift" panose="020B0502040204020203" pitchFamily="34" charset="0"/>
              </a:rPr>
              <a:t>Strategic Thinking</a:t>
            </a:r>
            <a:r>
              <a:rPr lang="en-US" sz="2400" dirty="0" smtClean="0">
                <a:latin typeface="Bahnschrift" panose="020B0502040204020203" pitchFamily="34" charset="0"/>
              </a:rPr>
              <a:t> – </a:t>
            </a:r>
            <a:r>
              <a:rPr lang="en-US" sz="2000" dirty="0" smtClean="0">
                <a:latin typeface="Bahnschrift" panose="020B0502040204020203" pitchFamily="34" charset="0"/>
              </a:rPr>
              <a:t>Built through real-time decision-making in natural environments curated by </a:t>
            </a:r>
            <a:r>
              <a:rPr lang="en-US" sz="2000" dirty="0" smtClean="0">
                <a:latin typeface="Bahnschrift" panose="020B0502040204020203" pitchFamily="34" charset="0"/>
                <a:hlinkClick r:id="rId4"/>
              </a:rPr>
              <a:t>the lens India </a:t>
            </a:r>
            <a:endParaRPr lang="en-US" sz="2000" dirty="0" smtClean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Bahnschrift" panose="020B0502040204020203" pitchFamily="34" charset="0"/>
              </a:rPr>
              <a:t>Environmental Awareness</a:t>
            </a:r>
            <a:r>
              <a:rPr lang="en-US" sz="2400" dirty="0" smtClean="0">
                <a:latin typeface="Bahnschrift" panose="020B0502040204020203" pitchFamily="34" charset="0"/>
              </a:rPr>
              <a:t> – </a:t>
            </a:r>
            <a:r>
              <a:rPr lang="en-US" sz="2000" dirty="0" smtClean="0">
                <a:latin typeface="Bahnschrift" panose="020B0502040204020203" pitchFamily="34" charset="0"/>
              </a:rPr>
              <a:t>Improved by immersive experiences in corporate birding retreats in India </a:t>
            </a:r>
            <a:endParaRPr lang="en-US" sz="2400" dirty="0" smtClean="0">
              <a:latin typeface="Bahnschrift" panose="020B0502040204020203" pitchFamily="34" charset="0"/>
            </a:endParaRPr>
          </a:p>
          <a:p>
            <a:pPr algn="l">
              <a:lnSpc>
                <a:spcPts val="1800"/>
              </a:lnSpc>
            </a:pPr>
            <a:r>
              <a:rPr lang="en-US" sz="140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/>
          </a:p>
        </p:txBody>
      </p:sp>
      <p:sp>
        <p:nvSpPr>
          <p:cNvPr id="22" name="Rectangle 21"/>
          <p:cNvSpPr/>
          <p:nvPr/>
        </p:nvSpPr>
        <p:spPr>
          <a:xfrm>
            <a:off x="11121656" y="7697972"/>
            <a:ext cx="3508744" cy="531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08" y="1703216"/>
            <a:ext cx="4614830" cy="59947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8266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Ideal</a:t>
            </a:r>
            <a:r>
              <a:rPr lang="en-US" sz="4000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 Destinations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2615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Top</a:t>
            </a:r>
            <a:r>
              <a:rPr lang="en-US" sz="3550" b="1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 Locations in India</a:t>
            </a:r>
            <a:endParaRPr lang="en-US" sz="3550" b="1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33293"/>
            <a:ext cx="12603233" cy="85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These biodiversity-rich locations are frequently included in 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3"/>
              </a:rPr>
              <a:t>Corporate Birding Retreats in 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3"/>
              </a:rPr>
              <a:t>India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organized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by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The Lens India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1" y="5412938"/>
            <a:ext cx="3311636" cy="42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Arial" panose="020B0604020202020204" pitchFamily="34" charset="0"/>
              </a:rPr>
              <a:t>Western Ghats</a:t>
            </a:r>
            <a:endParaRPr lang="en-US" sz="2200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5974199"/>
            <a:ext cx="415861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Locations:</a:t>
            </a: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Maharashtra &amp; Karnataka</a:t>
            </a:r>
            <a:endParaRPr lang="en-US" sz="16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6382464"/>
            <a:ext cx="331140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Endemic bird species, rainforest ecosystems, scenic landscapes accessible from major cities</a:t>
            </a:r>
            <a:endParaRPr lang="en-US" sz="16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235894" y="5412938"/>
            <a:ext cx="3419010" cy="42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Dandeli, Karnataka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72465" y="5974199"/>
            <a:ext cx="323825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Hornbill habitat, guided forest trails, riverine bird species in pristine natural settings</a:t>
            </a:r>
            <a:endParaRPr lang="en-US" sz="16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9677995" y="5412938"/>
            <a:ext cx="3419010" cy="42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Maharashtra Wetlands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784321" y="5906214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Locations:</a:t>
            </a: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Bhigwan &amp; Surroundings</a:t>
            </a:r>
            <a:endParaRPr lang="en-US" sz="16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840335" y="6327793"/>
            <a:ext cx="309432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Migratory birds, open landscapes ideal for sunrise </a:t>
            </a:r>
            <a:r>
              <a:rPr lang="en-US" sz="1600" dirty="0" smtClean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 session</a:t>
            </a:r>
            <a:endParaRPr lang="en-US" sz="16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886660" y="7478822"/>
            <a:ext cx="1637414" cy="627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11238614" y="7478821"/>
            <a:ext cx="3391786" cy="67490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India's birding top 10 | Flight path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892" y="3413854"/>
            <a:ext cx="3419008" cy="199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90" y="3383637"/>
            <a:ext cx="3419011" cy="20721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995" y="3361065"/>
            <a:ext cx="3419010" cy="2074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60967" y="909399"/>
            <a:ext cx="12475644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Structure of a Typical Retreat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535341" y="2667119"/>
            <a:ext cx="30480" cy="4653082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907030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66711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65260" y="270962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669411" y="2744986"/>
            <a:ext cx="37714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Day 1 – Arrival &amp; Orientation</a:t>
            </a:r>
            <a:endParaRPr lang="en-US" sz="2200" b="1" dirty="0">
              <a:latin typeface="Bahnschrift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69411" y="3235404"/>
            <a:ext cx="6167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dirty="0" smtClean="0">
                <a:latin typeface="Bahnschrift" panose="020B0502040204020203" pitchFamily="34" charset="0"/>
              </a:rPr>
              <a:t>Learn birding fundamentals, reflect on leadership skills, and enjoy an evening nature walk with </a:t>
            </a:r>
            <a:r>
              <a:rPr lang="en-US" b="1" dirty="0" smtClean="0">
                <a:latin typeface="Bahnschrift" panose="020B0502040204020203" pitchFamily="34" charset="0"/>
                <a:hlinkClick r:id="rId3"/>
              </a:rPr>
              <a:t>The Corporate Bird</a:t>
            </a:r>
            <a:r>
              <a:rPr lang="en-US" dirty="0" smtClean="0">
                <a:latin typeface="Bahnschrift" panose="020B0502040204020203" pitchFamily="34" charset="0"/>
                <a:hlinkClick r:id="rId3"/>
              </a:rPr>
              <a:t> team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760012" y="460926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11" name="Shape 8"/>
          <p:cNvSpPr/>
          <p:nvPr/>
        </p:nvSpPr>
        <p:spPr>
          <a:xfrm>
            <a:off x="6280190" y="43693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5260" y="441186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565113" y="4406146"/>
            <a:ext cx="42336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Day 2 – Field Birding Experience</a:t>
            </a:r>
            <a:endParaRPr lang="en-US" sz="2200" b="1" dirty="0">
              <a:latin typeface="Bahnschrift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69411" y="4937641"/>
            <a:ext cx="6167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dirty="0" smtClean="0">
                <a:latin typeface="Bahnschrift" panose="020B0502040204020203" pitchFamily="34" charset="0"/>
              </a:rPr>
              <a:t>Explore natural habitats with expert guides from </a:t>
            </a:r>
            <a:r>
              <a:rPr lang="en-US" b="1" dirty="0" smtClean="0">
                <a:latin typeface="Bahnschrift" panose="020B0502040204020203" pitchFamily="34" charset="0"/>
                <a:hlinkClick r:id="rId4"/>
              </a:rPr>
              <a:t>The Lens </a:t>
            </a:r>
            <a:r>
              <a:rPr lang="en-US" b="1" dirty="0" smtClean="0">
                <a:latin typeface="Bahnschrift" panose="020B0502040204020203" pitchFamily="34" charset="0"/>
                <a:hlinkClick r:id="rId4"/>
              </a:rPr>
              <a:t>India</a:t>
            </a:r>
            <a:r>
              <a:rPr lang="en-US" dirty="0" smtClean="0">
                <a:latin typeface="Bahnschrift" panose="020B0502040204020203" pitchFamily="34" charset="0"/>
              </a:rPr>
              <a:t>, </a:t>
            </a:r>
            <a:r>
              <a:rPr lang="en-US" dirty="0" smtClean="0">
                <a:latin typeface="Bahnschrift" panose="020B0502040204020203" pitchFamily="34" charset="0"/>
              </a:rPr>
              <a:t>identify birds, and learn about ecosystems.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760012" y="631150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BFD3D8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0190" y="607159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5260" y="61140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669411" y="6149459"/>
            <a:ext cx="39032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Day 3 – Reflection &amp; Strategy</a:t>
            </a:r>
            <a:endParaRPr lang="en-US" sz="2200" b="1" dirty="0">
              <a:latin typeface="Bahnschrift" panose="020B0502040204020203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69411" y="6639877"/>
            <a:ext cx="6167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Lessons from nature, applying field insights to corporate roles, closing circle discussion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886660" y="7478822"/>
            <a:ext cx="1637414" cy="627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1121656" y="7478822"/>
            <a:ext cx="3508744" cy="75077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967" y="2009622"/>
            <a:ext cx="4775336" cy="546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139" y="871870"/>
            <a:ext cx="6775167" cy="60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Leadership Lessons from Birding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4140" y="1967023"/>
            <a:ext cx="5461088" cy="3338624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/>
          <a:lstStyle/>
          <a:p>
            <a:pPr>
              <a:lnSpc>
                <a:spcPts val="2450"/>
              </a:lnSpc>
            </a:pPr>
            <a:r>
              <a:rPr lang="en-US" sz="2000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Corporate birding in India </a:t>
            </a:r>
            <a:endParaRPr lang="en-US" sz="2000" dirty="0" smtClean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450"/>
              </a:lnSpc>
            </a:pPr>
            <a:endParaRPr lang="en-US" sz="2000" dirty="0" smtClean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2450"/>
              </a:lnSpc>
            </a:pPr>
            <a:r>
              <a:rPr lang="en-US" sz="2000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 unique insights into leadership and teamwork. Observing birds closely provides simple yet powerful lessons that can enhance patience, collaboration, and strategic thinking in the workplace</a:t>
            </a:r>
            <a:r>
              <a:rPr lang="en-US" sz="2800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28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091207" y="6399609"/>
            <a:ext cx="2979659" cy="1302663"/>
          </a:xfrm>
          <a:prstGeom prst="roundRect">
            <a:avLst>
              <a:gd name="adj" fmla="val 8423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40" y="6399609"/>
            <a:ext cx="91440" cy="1302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3602" y="6607850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Migratory Wisdom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93602" y="6988493"/>
            <a:ext cx="2600444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movement and timing for business transitions</a:t>
            </a:r>
            <a:endParaRPr lang="en-US" sz="14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279106" y="6399609"/>
            <a:ext cx="2960252" cy="1302663"/>
          </a:xfrm>
          <a:prstGeom prst="roundRect">
            <a:avLst>
              <a:gd name="adj" fmla="val 8423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463" y="6399609"/>
            <a:ext cx="91440" cy="1302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30673" y="6607850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Habitat Adaptation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430673" y="6988493"/>
            <a:ext cx="2600444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Reflects business resilience and flexibility</a:t>
            </a:r>
            <a:endParaRPr lang="en-US" sz="14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7390924" y="6399609"/>
            <a:ext cx="3085505" cy="1302663"/>
          </a:xfrm>
          <a:prstGeom prst="roundRect">
            <a:avLst>
              <a:gd name="adj" fmla="val 8423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344" y="6399609"/>
            <a:ext cx="91440" cy="13026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88209" y="6517758"/>
            <a:ext cx="2826067" cy="470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b="1" dirty="0" smtClean="0">
                <a:latin typeface="Bahnschrift" panose="020B0502040204020203" pitchFamily="34" charset="0"/>
              </a:rPr>
              <a:t>Cooperative Species –</a:t>
            </a:r>
          </a:p>
          <a:p>
            <a:pPr algn="ctr">
              <a:lnSpc>
                <a:spcPts val="2250"/>
              </a:lnSpc>
            </a:pPr>
            <a:r>
              <a:rPr lang="en-US" b="1" dirty="0" smtClean="0">
                <a:latin typeface="Bahnschrift" panose="020B0502040204020203" pitchFamily="34" charset="0"/>
              </a:rPr>
              <a:t> </a:t>
            </a:r>
            <a:r>
              <a:rPr lang="en-US" b="1" dirty="0" smtClean="0">
                <a:latin typeface="Bahnschrift" panose="020B0502040204020203" pitchFamily="34" charset="0"/>
                <a:hlinkClick r:id="rId5"/>
              </a:rPr>
              <a:t>The Lens </a:t>
            </a:r>
            <a:r>
              <a:rPr lang="en-US" b="1" dirty="0" smtClean="0">
                <a:latin typeface="Bahnschrift" panose="020B0502040204020203" pitchFamily="34" charset="0"/>
                <a:hlinkClick r:id="rId5"/>
              </a:rPr>
              <a:t>India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588211" y="7106642"/>
            <a:ext cx="2911078" cy="50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0"/>
              </a:lnSpc>
            </a:pPr>
            <a:r>
              <a:rPr lang="en-US" sz="1400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teamwork and collaboration</a:t>
            </a:r>
            <a:endParaRPr lang="en-US" sz="14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10627995" y="6399609"/>
            <a:ext cx="3085505" cy="1302663"/>
          </a:xfrm>
          <a:prstGeom prst="roundRect">
            <a:avLst>
              <a:gd name="adj" fmla="val 8423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515" y="6399609"/>
            <a:ext cx="91440" cy="13026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04815" y="6607850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Silent Observation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10904815" y="6988493"/>
            <a:ext cx="2600444" cy="505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Builds emotional intelligence and awareness</a:t>
            </a:r>
            <a:endParaRPr lang="en-US" sz="1400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1121656" y="7745218"/>
            <a:ext cx="3508744" cy="48438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876" y="1354617"/>
            <a:ext cx="7113624" cy="49268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967" y="694155"/>
            <a:ext cx="7494069" cy="47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Benefits for Corporate Decision-Makers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085267" y="1970008"/>
            <a:ext cx="1768673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799" y="1276986"/>
            <a:ext cx="1693141" cy="16931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70979" y="3155259"/>
            <a:ext cx="1797487" cy="29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Days to Impact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353985" y="3449491"/>
            <a:ext cx="3231475" cy="361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Short retreats create </a:t>
            </a:r>
            <a:r>
              <a:rPr lang="en-US" sz="16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lasting</a:t>
            </a:r>
          </a:p>
          <a:p>
            <a:pPr marL="0" indent="0" algn="ctr">
              <a:lnSpc>
                <a:spcPts val="1350"/>
              </a:lnSpc>
              <a:buNone/>
            </a:pPr>
            <a:r>
              <a:rPr lang="en-US" sz="16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behavioral change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30685" y="1970008"/>
            <a:ext cx="1768673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100%</a:t>
            </a:r>
            <a:endParaRPr lang="en-US" sz="2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685" y="1251109"/>
            <a:ext cx="1667816" cy="16678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6397" y="3155260"/>
            <a:ext cx="1797487" cy="294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Engagement</a:t>
            </a:r>
            <a:endParaRPr lang="en-US" sz="1600" b="1" dirty="0">
              <a:latin typeface="Bahnschrift" panose="020B05020402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305107" y="3449491"/>
            <a:ext cx="2190308" cy="56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Active participation in </a:t>
            </a:r>
            <a:r>
              <a:rPr lang="en-US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meaningful</a:t>
            </a:r>
            <a:r>
              <a:rPr lang="en-US" sz="16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ctr">
              <a:lnSpc>
                <a:spcPts val="1350"/>
              </a:lnSpc>
              <a:buNone/>
            </a:pPr>
            <a:r>
              <a:rPr lang="en-US" sz="16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activities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776103" y="1970008"/>
            <a:ext cx="1768673" cy="359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10x</a:t>
            </a:r>
            <a:endParaRPr lang="en-US" sz="2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8409" y="1251109"/>
            <a:ext cx="1752348" cy="17523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61815" y="3155260"/>
            <a:ext cx="1797487" cy="294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Memorable</a:t>
            </a:r>
            <a:endParaRPr lang="en-US" sz="1600" b="1" dirty="0">
              <a:latin typeface="Bahnschrift" panose="020B0502040204020203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385181" y="3449492"/>
            <a:ext cx="3161237" cy="415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More memorable </a:t>
            </a:r>
            <a:r>
              <a:rPr lang="en-US" sz="16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than traditional </a:t>
            </a:r>
            <a:r>
              <a:rPr lang="en-US" sz="16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hotel-based offsites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187609" y="4426403"/>
            <a:ext cx="2401527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Key </a:t>
            </a:r>
            <a:r>
              <a:rPr lang="en-US" sz="2800" b="1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Outcomes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187609" y="4805916"/>
            <a:ext cx="5656521" cy="2714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Team Bonding &amp; Trust – with The Lens India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Workplace Stress – by </a:t>
            </a:r>
            <a:r>
              <a:rPr lang="en-US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The Corporate Bird </a:t>
            </a:r>
            <a:endParaRPr lang="en-US" dirty="0" smtClean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Enhanced Focus &amp; Clarity – guided </a:t>
            </a:r>
            <a:r>
              <a:rPr lang="en-US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by The Lens India </a:t>
            </a:r>
            <a:endParaRPr lang="en-US" dirty="0" smtClean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Stronger Collaboration – via The Corporate Bird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 Corporate Culture Development – with The Lens India &amp; The Corporate Bird </a:t>
            </a:r>
            <a:endParaRPr lang="en-US" dirty="0">
              <a:latin typeface="Bahnschrift" panose="020B050204020402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121656" y="7654259"/>
            <a:ext cx="3508744" cy="57534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967" y="3995965"/>
            <a:ext cx="5634251" cy="3705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615" y="704493"/>
            <a:ext cx="6925985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Why Choose The Lens India?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29615" y="1739265"/>
            <a:ext cx="1317117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The Lens India stands apart in delivering exceptional Corporate Birding Retreats in India: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9615" y="3015377"/>
            <a:ext cx="3665934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  <a:hlinkClick r:id="rId3"/>
              </a:rPr>
              <a:t>Wildlife Photography Expertise</a:t>
            </a:r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29615" y="3456027"/>
            <a:ext cx="646580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photographers guide every session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34858" y="3015377"/>
            <a:ext cx="260604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Field-Driven Learning</a:t>
            </a:r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434858" y="3456027"/>
            <a:ext cx="646592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4653"/>
                </a:solidFill>
                <a:ea typeface="Roboto" pitchFamily="34" charset="-122"/>
                <a:cs typeface="Roboto" pitchFamily="34" charset="-120"/>
              </a:rPr>
              <a:t>Real-world experiences over theoretical presentations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29615" y="4899898"/>
            <a:ext cx="2760464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Educational Structuring</a:t>
            </a:r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29615" y="5340548"/>
            <a:ext cx="646580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Curated programs aligned with learning objectives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34858" y="4899898"/>
            <a:ext cx="2662714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Customizable Modules</a:t>
            </a:r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34858" y="5340548"/>
            <a:ext cx="646592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Tailored to company size and goals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29615" y="6602819"/>
            <a:ext cx="3599736" cy="507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Strong Destination Knowledge</a:t>
            </a:r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729615" y="7017488"/>
            <a:ext cx="6465808" cy="50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In-depth understanding of optimal </a:t>
            </a: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birding locations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434858" y="6602819"/>
            <a:ext cx="2885956" cy="507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Ethical Wildlife Practices</a:t>
            </a:r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34858" y="7017488"/>
            <a:ext cx="6465927" cy="50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Conservation-first approach in every retreat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886660" y="7478822"/>
            <a:ext cx="1637414" cy="627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1121656" y="7478822"/>
            <a:ext cx="3508744" cy="75077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1084521"/>
            <a:ext cx="5356741" cy="64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600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Business Benefits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55" y="2377885"/>
            <a:ext cx="9563725" cy="577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200" b="1" u="sng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Benefits for Companies </a:t>
            </a:r>
            <a:r>
              <a:rPr lang="en-US" sz="3200" b="1" u="sng" dirty="0" smtClean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&amp; HR </a:t>
            </a:r>
            <a:r>
              <a:rPr lang="en-US" sz="3200" b="1" u="sng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Teams</a:t>
            </a:r>
            <a:endParaRPr lang="en-US" sz="3200" u="sng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55" y="3327991"/>
            <a:ext cx="10584451" cy="335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Strengthens team bonding and collaboration through </a:t>
            </a:r>
            <a:r>
              <a:rPr lang="en-US" sz="20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3"/>
              </a:rPr>
              <a:t>Corporate Birding Retreats in </a:t>
            </a:r>
            <a:r>
              <a:rPr lang="en-US" sz="2000" b="1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3"/>
              </a:rPr>
              <a:t>India</a:t>
            </a:r>
            <a:endParaRPr lang="en-US" sz="2000" b="1" dirty="0" smtClean="0">
              <a:solidFill>
                <a:srgbClr val="384653"/>
              </a:solidFill>
              <a:latin typeface="Bahnschrift" panose="020B0502040204020203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450"/>
              </a:lnSpc>
              <a:buSzPct val="100000"/>
            </a:pPr>
            <a:endParaRPr lang="en-US" sz="2000" dirty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Reduces workplace stress and improves 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well-being</a:t>
            </a:r>
          </a:p>
          <a:p>
            <a:pPr algn="l">
              <a:lnSpc>
                <a:spcPts val="2450"/>
              </a:lnSpc>
              <a:buSzPct val="100000"/>
            </a:pPr>
            <a:endParaRPr lang="en-US" sz="2000" dirty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Enhances focus, productivity, and 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decision-making</a:t>
            </a:r>
          </a:p>
          <a:p>
            <a:pPr algn="l">
              <a:lnSpc>
                <a:spcPts val="2450"/>
              </a:lnSpc>
              <a:buSzPct val="100000"/>
            </a:pPr>
            <a:endParaRPr lang="en-US" sz="2000" dirty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Encourages better communication and </a:t>
            </a:r>
            <a:r>
              <a:rPr lang="en-US" sz="2000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coordination.</a:t>
            </a:r>
          </a:p>
          <a:p>
            <a:pPr algn="l">
              <a:lnSpc>
                <a:spcPts val="2450"/>
              </a:lnSpc>
              <a:buSzPct val="100000"/>
            </a:pPr>
            <a:endParaRPr lang="en-US" sz="2000" dirty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Builds a unique and positive corporate culture with programs </a:t>
            </a:r>
            <a:r>
              <a:rPr lang="en-US" sz="2000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by </a:t>
            </a:r>
            <a:r>
              <a:rPr lang="en-US" sz="20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The Lens India</a:t>
            </a:r>
            <a:endParaRPr lang="en-US" sz="2000" dirty="0">
              <a:latin typeface="Bahnschrift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21656" y="7697972"/>
            <a:ext cx="3508744" cy="531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5508" y="1172027"/>
            <a:ext cx="10985272" cy="656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Arial Black" panose="020B0A04020102020204" pitchFamily="34" charset="0"/>
                <a:ea typeface="Host Grotesk Medium" pitchFamily="34" charset="-122"/>
                <a:cs typeface="Host Grotesk Medium" pitchFamily="34" charset="-120"/>
              </a:rPr>
              <a:t>Conclusion &amp; CTA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5508" y="2134528"/>
            <a:ext cx="12871103" cy="687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</a:rPr>
              <a:t>Redefining </a:t>
            </a:r>
            <a:r>
              <a:rPr lang="en-US" sz="2800" b="1" dirty="0">
                <a:solidFill>
                  <a:srgbClr val="2E3C4E"/>
                </a:solidFill>
                <a:latin typeface="Bahnschrift" panose="020B0502040204020203" pitchFamily="34" charset="0"/>
                <a:ea typeface="Host Grotesk Medium" pitchFamily="34" charset="-122"/>
                <a:cs typeface="Host Grotesk Medium" pitchFamily="34" charset="-120"/>
                <a:hlinkClick r:id="rId3"/>
              </a:rPr>
              <a:t>Corporate Retreats Through Nature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5509" y="2764274"/>
            <a:ext cx="6053577" cy="159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Move beyond traditional offsites with meaningful, experiential learning</a:t>
            </a:r>
            <a:endParaRPr lang="en-US" dirty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Build stronger teams through nature-based collaboration and reflection</a:t>
            </a:r>
            <a:endParaRPr lang="en-US" dirty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Promote sustainable, eco-conscious corporate practices</a:t>
            </a:r>
            <a:endParaRPr lang="en-US" dirty="0">
              <a:latin typeface="Bahnschrift" panose="020B0502040204020203" pitchFamily="34" charset="0"/>
            </a:endParaRPr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Deliver long-term impact on leadership, focus, and team bonding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5509" y="5986130"/>
            <a:ext cx="11106232" cy="946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2000" b="1" dirty="0" smtClean="0">
              <a:solidFill>
                <a:srgbClr val="384653"/>
              </a:solidFill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650"/>
              </a:lnSpc>
              <a:buNone/>
            </a:pPr>
            <a:r>
              <a:rPr lang="en-US" sz="2400" b="1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Partner </a:t>
            </a: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with </a:t>
            </a: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The Lens </a:t>
            </a:r>
            <a:r>
              <a:rPr lang="en-US" sz="2400" b="1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  <a:hlinkClick r:id="rId4"/>
              </a:rPr>
              <a:t>India</a:t>
            </a:r>
            <a:r>
              <a:rPr lang="en-US" sz="2400" b="1" dirty="0" smtClean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:- </a:t>
            </a:r>
            <a:r>
              <a:rPr lang="en-US" sz="2400" b="1" dirty="0">
                <a:solidFill>
                  <a:srgbClr val="384653"/>
                </a:solidFill>
                <a:latin typeface="Bahnschrift" panose="020B0502040204020203" pitchFamily="34" charset="0"/>
                <a:ea typeface="Roboto" pitchFamily="34" charset="-122"/>
                <a:cs typeface="Roboto" pitchFamily="34" charset="-120"/>
              </a:rPr>
              <a:t>Design customized Corporate Birding Retreats in India for your organization</a:t>
            </a:r>
            <a:endParaRPr lang="en-US" sz="2400" b="1" dirty="0"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6291858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50" dirty="0"/>
          </a:p>
        </p:txBody>
      </p:sp>
      <p:sp>
        <p:nvSpPr>
          <p:cNvPr id="10" name="Rectangle 9"/>
          <p:cNvSpPr/>
          <p:nvPr/>
        </p:nvSpPr>
        <p:spPr>
          <a:xfrm>
            <a:off x="11121656" y="7697972"/>
            <a:ext cx="3508744" cy="53162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385" y="2616899"/>
            <a:ext cx="5436926" cy="36749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657</TotalTime>
  <Words>673</Words>
  <Application>Microsoft Office PowerPoint</Application>
  <PresentationFormat>Custom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Host Grotesk Medium</vt:lpstr>
      <vt:lpstr>Calibri</vt:lpstr>
      <vt:lpstr>Roboto</vt:lpstr>
      <vt:lpstr>Century Gothic</vt:lpstr>
      <vt:lpstr>Arial Black</vt:lpstr>
      <vt:lpstr>Wingdings 3</vt:lpstr>
      <vt:lpstr>Bahnschrift</vt:lpstr>
      <vt:lpstr>Arial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hp</cp:lastModifiedBy>
  <cp:revision>30</cp:revision>
  <dcterms:created xsi:type="dcterms:W3CDTF">2026-03-25T16:32:31Z</dcterms:created>
  <dcterms:modified xsi:type="dcterms:W3CDTF">2026-03-26T14:53:54Z</dcterms:modified>
</cp:coreProperties>
</file>